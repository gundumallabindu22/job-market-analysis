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371600"/>
          </a:xfrm>
          <a:prstGeom prst="rect">
            <a:avLst/>
          </a:prstGeom>
          <a:solidFill>
            <a:srgbClr val="1622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Market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Job Market Insights — United States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742 Job Postings  |  26 Features  |  June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243B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Postings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34747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243B5A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Covered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4747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243B5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$116K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Avg Salary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4747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243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6656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Tracked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Data Analytics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43B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Job Postings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43B5A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/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43B5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Covered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43B5A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5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122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Tracked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Columns in Dataset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Title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 Name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Location / State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Industry &amp; Sector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 / Max / Avg Salary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 Rating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Category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Seniority Level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Python, SQL, Excel, AWS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Spark, Tableau, Keras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Degree Required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Power BI, Hadoop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Glassdoor Job Listings | Tools: Python (Pandas) + Power BI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with Most Jobs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(CA)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960120"/>
            <a:ext cx="502920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914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081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(MA)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1453896"/>
            <a:ext cx="3419856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140817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019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(NY)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1947672"/>
            <a:ext cx="2363724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9019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395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(VA)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2441448"/>
            <a:ext cx="1357884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23957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8895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(IL)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17520" y="2935224"/>
            <a:ext cx="1307592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8895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Maryland (MD)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17520" y="3429000"/>
            <a:ext cx="1156716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8770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(PA)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17520" y="3922776"/>
            <a:ext cx="1106424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87705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370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(TX)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17520" y="4416552"/>
            <a:ext cx="905256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3708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CA + MA + NY account for 44% of all job postings!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Industries with Most Jobs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43B5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Biotech &amp; Pharmaceuticals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jobs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33.63%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43B5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783080"/>
            <a:ext cx="109728" cy="64008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28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Health Care Services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jobs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18.92%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43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560320"/>
            <a:ext cx="109728" cy="6400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06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Computer Hardware &amp; Software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jobs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17.72%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43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337560"/>
            <a:ext cx="109728" cy="64008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83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IT Services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5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jobs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B5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15.02%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43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4114800"/>
            <a:ext cx="109728" cy="6400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160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Insurance Carriers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4434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jobs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14.71%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Biotech &amp; Pharma alone accounts for 1/3 of all top industry job postings!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In-Demand Skills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243B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2926080" cy="1645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097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jobs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243B5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019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295144"/>
            <a:ext cx="2145792" cy="16459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933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 jobs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243B5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98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191256"/>
            <a:ext cx="1889760" cy="1645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88950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 jobs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64845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243B5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94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087368"/>
            <a:ext cx="963168" cy="16459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78561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B5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jobs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243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92040" y="1399032"/>
            <a:ext cx="926592" cy="1645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1097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jobs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856232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243B5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9019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92040" y="2295144"/>
            <a:ext cx="548640" cy="16459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19933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jobs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752344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243B5A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798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892040" y="3191256"/>
            <a:ext cx="390144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288950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jobs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364845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243B5A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694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892040" y="4087368"/>
            <a:ext cx="341376" cy="16459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378561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jobs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Python + SQL = Essential combo for every Data Science role!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by Education Level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005840" cy="2011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$116K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(P)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2011680"/>
            <a:ext cx="1005840" cy="1645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(M)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1005840" cy="164592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Specified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Salary by Job Title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243B5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463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1463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~$130K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192024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243B5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965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1965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~$120K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242316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243B5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468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~$105K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29260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243B5A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9718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971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B5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~$100K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342900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243B5A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4747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3474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~$75K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PhD holders earn 22% more than Masters degree holders on average!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243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96696"/>
            <a:ext cx="347472" cy="34747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96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leads with 152 jobs — 3x more than any other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243B5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55064"/>
            <a:ext cx="347472" cy="347472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55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66420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 &amp; Pharma is #1 industry with 33.63% of top job postings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31136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243B5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13432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13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32257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is most common role with 313 out of 742 postings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89504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243B5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71800"/>
            <a:ext cx="347472" cy="347472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8094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(240) &amp; SQL (176) are the most required technical skills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243B5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630168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30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6393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holders earn $116K avg vs $95K for Masters degree holders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243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288536"/>
            <a:ext cx="347472" cy="34747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88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2976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Massmutual, Reynolds American &amp; Takeda lead company hiring (14 each)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243B5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Job Seekers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Master Python &amp; SQL 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Target California or Massachusetts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Pursue Masters/PhD degree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Focus on Biotech &amp; Pharma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Learn Tableau &amp; AWS as bonus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Apply to Massmutual &amp; Takeda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243B5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Employers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Offer CA-competitive salaries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Require Python &amp; SQL skills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514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Consider remote work options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Partner with universities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520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Offer degree sponsorships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4023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Focus on Data Scientist roles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1622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Market Analysis — PRDA-04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using Python &amp; Power BI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Used: Python (Pandas, Matplotlib)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Visualization: Power BI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742 Records | 26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</dc:title>
  <dc:subject>PptxGenJS Presentation</dc:subject>
  <dc:creator>PptxGenJS</dc:creator>
  <cp:lastModifiedBy>PptxGenJS</cp:lastModifiedBy>
  <cp:revision>1</cp:revision>
  <dcterms:created xsi:type="dcterms:W3CDTF">2026-06-27T11:36:31Z</dcterms:created>
  <dcterms:modified xsi:type="dcterms:W3CDTF">2026-06-27T11:36:31Z</dcterms:modified>
</cp:coreProperties>
</file>